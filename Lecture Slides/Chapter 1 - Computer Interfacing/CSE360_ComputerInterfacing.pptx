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iiCnivj/koOKnDTkZsFy4mIHTL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31"/>
  </p:normalViewPr>
  <p:slideViewPr>
    <p:cSldViewPr snapToGrid="0">
      <p:cViewPr varScale="1">
        <p:scale>
          <a:sx n="123" d="100"/>
          <a:sy n="123" d="100"/>
        </p:scale>
        <p:origin x="134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febea9a07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6" name="Google Shape;106;g2febea9a07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g2febea9a07c_0_17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4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febea9a07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3" name="Google Shape;113;g2febea9a07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" name="Google Shape;114;g2febea9a07c_0_6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5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0ccf79e437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1" name="Google Shape;121;g30ccf79e437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" name="Google Shape;122;g30ccf79e437_0_3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6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0cca46aa01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9" name="Google Shape;129;g30cca46aa01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g30cca46aa01_0_9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7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0ccf79e43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6" name="Google Shape;136;g30ccf79e43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g30ccf79e437_0_11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8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0ccf79e437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3" name="Google Shape;143;g30ccf79e437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g30ccf79e437_0_19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9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" name="Google Shape;159;p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0ccf79e43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83" name="Google Shape;183;g30ccf79e43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g30ccf79e437_0_34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15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0ccf79e437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1" name="Google Shape;191;g30ccf79e437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g30ccf79e437_0_45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16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0ccf79e437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9" name="Google Shape;199;g30ccf79e437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g30ccf79e437_0_54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17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0ccf79e437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6" name="Google Shape;206;g30ccf79e437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g30ccf79e437_0_62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18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0ccf79e437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3" name="Google Shape;213;g30ccf79e437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g30ccf79e437_0_69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19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0ccf79e437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20" name="Google Shape;220;g30ccf79e437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g30ccf79e437_0_77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20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febea9a0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27" name="Google Shape;227;g2febea9a0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g2febea9a07c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21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0da663dab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35" name="Google Shape;235;g30da663dab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" name="Google Shape;236;g30da663daba_0_1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22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0da663daba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4" name="Google Shape;244;g30da663daba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5" name="Google Shape;245;g30da663daba_0_11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23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0da663daba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53" name="Google Shape;253;g30da663daba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4" name="Google Shape;254;g30da663daba_0_27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24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0da663daba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61" name="Google Shape;261;g30da663daba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2" name="Google Shape;262;g30da663daba_0_37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25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0da663daba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68" name="Google Shape;268;g30da663daba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g30da663daba_0_45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26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0da663daba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75" name="Google Shape;275;g30da663daba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6" name="Google Shape;276;g30da663daba_0_53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27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0da663daba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82" name="Google Shape;282;g30da663daba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3" name="Google Shape;283;g30da663daba_0_61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28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ff053b2d3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89" name="Google Shape;289;g2ff053b2d3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0" name="Google Shape;290;g2ff053b2d38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29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ff053b2d3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97" name="Google Shape;297;g2ff053b2d3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8" name="Google Shape;298;g2ff053b2d38_0_16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30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ff053b2d3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05" name="Google Shape;305;g2ff053b2d38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6" name="Google Shape;306;g2ff053b2d38_0_9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31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ff053b2d38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2" name="Google Shape;312;g2ff053b2d38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3" name="Google Shape;313;g2ff053b2d38_0_27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32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ff053b2d38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9" name="Google Shape;319;g2ff053b2d38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0" name="Google Shape;320;g2ff053b2d38_0_36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33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6" name="Google Shape;32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/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533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6629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0" y="1219200"/>
            <a:ext cx="91440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533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6629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 rot="5400000">
            <a:off x="4838700" y="2019300"/>
            <a:ext cx="63246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 rot="5400000">
            <a:off x="190500" y="-190500"/>
            <a:ext cx="6324600" cy="6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533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6629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 rot="5400000">
            <a:off x="2019300" y="-800100"/>
            <a:ext cx="5105400" cy="9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dt" idx="10"/>
          </p:nvPr>
        </p:nvSpPr>
        <p:spPr>
          <a:xfrm>
            <a:off x="533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ftr" idx="11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sldNum" idx="12"/>
          </p:nvPr>
        </p:nvSpPr>
        <p:spPr>
          <a:xfrm>
            <a:off x="6629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dt" idx="10"/>
          </p:nvPr>
        </p:nvSpPr>
        <p:spPr>
          <a:xfrm>
            <a:off x="533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ftr" idx="11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sldNum" idx="12"/>
          </p:nvPr>
        </p:nvSpPr>
        <p:spPr>
          <a:xfrm>
            <a:off x="6629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49" name="Google Shape;49;p2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50" name="Google Shape;50;p29"/>
          <p:cNvSpPr txBox="1">
            <a:spLocks noGrp="1"/>
          </p:cNvSpPr>
          <p:nvPr>
            <p:ph type="dt" idx="10"/>
          </p:nvPr>
        </p:nvSpPr>
        <p:spPr>
          <a:xfrm>
            <a:off x="533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ftr" idx="11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sldNum" idx="12"/>
          </p:nvPr>
        </p:nvSpPr>
        <p:spPr>
          <a:xfrm>
            <a:off x="6629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0"/>
          <p:cNvSpPr txBox="1">
            <a:spLocks noGrp="1"/>
          </p:cNvSpPr>
          <p:nvPr>
            <p:ph type="dt" idx="10"/>
          </p:nvPr>
        </p:nvSpPr>
        <p:spPr>
          <a:xfrm>
            <a:off x="533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0"/>
          <p:cNvSpPr txBox="1">
            <a:spLocks noGrp="1"/>
          </p:cNvSpPr>
          <p:nvPr>
            <p:ph type="ftr" idx="11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sldNum" idx="12"/>
          </p:nvPr>
        </p:nvSpPr>
        <p:spPr>
          <a:xfrm>
            <a:off x="6629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1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1"/>
          <p:cNvSpPr txBox="1">
            <a:spLocks noGrp="1"/>
          </p:cNvSpPr>
          <p:nvPr>
            <p:ph type="dt" idx="10"/>
          </p:nvPr>
        </p:nvSpPr>
        <p:spPr>
          <a:xfrm>
            <a:off x="533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ftr" idx="11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sldNum" idx="12"/>
          </p:nvPr>
        </p:nvSpPr>
        <p:spPr>
          <a:xfrm>
            <a:off x="6629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65" name="Google Shape;65;p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66" name="Google Shape;66;p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68" name="Google Shape;68;p32"/>
          <p:cNvSpPr txBox="1">
            <a:spLocks noGrp="1"/>
          </p:cNvSpPr>
          <p:nvPr>
            <p:ph type="dt" idx="10"/>
          </p:nvPr>
        </p:nvSpPr>
        <p:spPr>
          <a:xfrm>
            <a:off x="533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ftr" idx="11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sldNum" idx="12"/>
          </p:nvPr>
        </p:nvSpPr>
        <p:spPr>
          <a:xfrm>
            <a:off x="6629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3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3"/>
          <p:cNvSpPr txBox="1">
            <a:spLocks noGrp="1"/>
          </p:cNvSpPr>
          <p:nvPr>
            <p:ph type="body" idx="1"/>
          </p:nvPr>
        </p:nvSpPr>
        <p:spPr>
          <a:xfrm>
            <a:off x="0" y="1219200"/>
            <a:ext cx="44958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2"/>
          </p:nvPr>
        </p:nvSpPr>
        <p:spPr>
          <a:xfrm>
            <a:off x="4648200" y="1219200"/>
            <a:ext cx="44958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533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6629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533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6629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0" y="1219200"/>
            <a:ext cx="91440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533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6629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685800" y="2134075"/>
            <a:ext cx="77724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Introduction to Computer Interfacing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endParaRPr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/>
              <a:t>SE360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Comput</a:t>
            </a:r>
            <a:r>
              <a:rPr lang="en-US"/>
              <a:t>er Interfacing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/>
          </a:p>
        </p:txBody>
      </p:sp>
      <p:sp>
        <p:nvSpPr>
          <p:cNvPr id="95" name="Google Shape;95;p2"/>
          <p:cNvSpPr txBox="1">
            <a:spLocks noGrp="1"/>
          </p:cNvSpPr>
          <p:nvPr>
            <p:ph type="body" idx="1"/>
          </p:nvPr>
        </p:nvSpPr>
        <p:spPr>
          <a:xfrm>
            <a:off x="304800" y="1546775"/>
            <a:ext cx="9144000" cy="39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What is computer interfacing?</a:t>
            </a:r>
            <a:endParaRPr sz="280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How does a computer work?</a:t>
            </a:r>
            <a:endParaRPr sz="280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Software hierarchy of a computer system</a:t>
            </a:r>
            <a:endParaRPr sz="280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Buses and Ports: Bus architectures, Tri-state logic, Bus conflicts, Glitch, Different types of ports </a:t>
            </a:r>
            <a:endParaRPr sz="280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Microprocessor vs Microcontroller</a:t>
            </a:r>
            <a:endParaRPr sz="280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Embedded systems vs Systems on a chip (SoC) </a:t>
            </a:r>
            <a:endParaRPr sz="280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BIOS, Operating system vs Driver vs Firmware </a:t>
            </a:r>
            <a:endParaRPr sz="2800"/>
          </a:p>
          <a:p>
            <a:pPr marL="34290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00"/>
              <a:buNone/>
            </a:pP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/>
              <a:t>What is computer interfacing?</a:t>
            </a:r>
            <a:endParaRPr/>
          </a:p>
        </p:txBody>
      </p:sp>
      <p:sp>
        <p:nvSpPr>
          <p:cNvPr id="101" name="Google Shape;101;p3"/>
          <p:cNvSpPr txBox="1">
            <a:spLocks noGrp="1"/>
          </p:cNvSpPr>
          <p:nvPr>
            <p:ph type="body" idx="1"/>
          </p:nvPr>
        </p:nvSpPr>
        <p:spPr>
          <a:xfrm>
            <a:off x="0" y="1219200"/>
            <a:ext cx="91440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/>
              <a:t>An interface is a shared boundary where two or more separate components (I/O devices, Memory, etc.) of a computer system exchange information.</a:t>
            </a:r>
            <a:endParaRPr sz="2800"/>
          </a:p>
          <a:p>
            <a:pPr marL="3429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62150" y="2683100"/>
            <a:ext cx="89403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Computer Interfaces: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365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○"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Interface: Interaction between programs or modules (e.g., API).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365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○"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Interface: Communication between hardware components (e.g., CPU, I/O devices and memory).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365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○"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Interface (UI): Where humans interact with computers (e.g., GUI or command line).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365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○"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Interface: Where systems communicate over networks (e.g., network cards).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0" y="4692875"/>
            <a:ext cx="8670900" cy="23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Examples: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○"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Human-Machine Interface (HMI): Like touch screens or keyboards.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○"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Peripheral Interfaces: Communication with devices like printers, mice, or storage.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○"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Interfaces: APIs allowing programs to interact (e.g., REST, SOAP).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febea9a07c_0_17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800"/>
              <a:t>Peripheral Devices &amp; Communication Links</a:t>
            </a:r>
            <a:endParaRPr sz="3800"/>
          </a:p>
        </p:txBody>
      </p:sp>
      <p:sp>
        <p:nvSpPr>
          <p:cNvPr id="110" name="Google Shape;110;g2febea9a07c_0_17"/>
          <p:cNvSpPr txBox="1">
            <a:spLocks noGrp="1"/>
          </p:cNvSpPr>
          <p:nvPr>
            <p:ph type="body" idx="1"/>
          </p:nvPr>
        </p:nvSpPr>
        <p:spPr>
          <a:xfrm>
            <a:off x="0" y="1219200"/>
            <a:ext cx="9144000" cy="56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19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00"/>
              <a:buChar char="•"/>
            </a:pPr>
            <a:r>
              <a:rPr lang="en-US" sz="2200" b="1"/>
              <a:t>Peripheral Communication Links:</a:t>
            </a:r>
            <a:r>
              <a:rPr lang="en-US" sz="2100"/>
              <a:t> </a:t>
            </a:r>
            <a:endParaRPr sz="2100"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100"/>
          </a:p>
          <a:p>
            <a:pPr marL="914400" lvl="1" indent="-3492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–"/>
            </a:pPr>
            <a:r>
              <a:rPr lang="en-US" sz="1900" b="1"/>
              <a:t>Peripherals</a:t>
            </a:r>
            <a:r>
              <a:rPr lang="en-US" sz="1900"/>
              <a:t> connected to a computer require special communication links to interface with the </a:t>
            </a:r>
            <a:r>
              <a:rPr lang="en-US" sz="1900" b="1"/>
              <a:t>CPU</a:t>
            </a:r>
            <a:r>
              <a:rPr lang="en-US" sz="1900"/>
              <a:t>.</a:t>
            </a:r>
            <a:endParaRPr sz="1900"/>
          </a:p>
          <a:p>
            <a:pPr marL="91440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–"/>
            </a:pPr>
            <a:r>
              <a:rPr lang="en-US" sz="1900" b="1"/>
              <a:t>Input-output interfaces</a:t>
            </a:r>
            <a:r>
              <a:rPr lang="en-US" sz="1900"/>
              <a:t> are hardware components that manage data transfers between the </a:t>
            </a:r>
            <a:r>
              <a:rPr lang="en-US" sz="1900" b="1"/>
              <a:t>CPU</a:t>
            </a:r>
            <a:r>
              <a:rPr lang="en-US" sz="1900"/>
              <a:t> and </a:t>
            </a:r>
            <a:r>
              <a:rPr lang="en-US" sz="1900" b="1"/>
              <a:t>peripherals</a:t>
            </a:r>
            <a:r>
              <a:rPr lang="en-US" sz="1900"/>
              <a:t>.</a:t>
            </a:r>
            <a:endParaRPr sz="19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000"/>
          </a:p>
          <a:p>
            <a:pPr marL="457200" lvl="0" indent="-3683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200"/>
              <a:buChar char="•"/>
            </a:pPr>
            <a:r>
              <a:rPr lang="en-US" sz="2200" b="1"/>
              <a:t>Major Differences:</a:t>
            </a:r>
            <a:endParaRPr sz="2200" b="1"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200" b="1"/>
          </a:p>
          <a:p>
            <a:pPr marL="914400" lvl="1" indent="-3492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–"/>
            </a:pPr>
            <a:r>
              <a:rPr lang="en-US" sz="1900" b="1"/>
              <a:t>Peripheral devices</a:t>
            </a:r>
            <a:r>
              <a:rPr lang="en-US" sz="1900"/>
              <a:t> are electromagnetic/electro-mechanical, while the </a:t>
            </a:r>
            <a:r>
              <a:rPr lang="en-US" sz="1900" b="1"/>
              <a:t>CPU</a:t>
            </a:r>
            <a:r>
              <a:rPr lang="en-US" sz="1900"/>
              <a:t> is electronic, often requiring </a:t>
            </a:r>
            <a:r>
              <a:rPr lang="en-US" sz="1900" b="1"/>
              <a:t>signal conversion</a:t>
            </a:r>
            <a:r>
              <a:rPr lang="en-US" sz="1900"/>
              <a:t>.</a:t>
            </a:r>
            <a:endParaRPr sz="1900"/>
          </a:p>
          <a:p>
            <a:pPr marL="91440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–"/>
            </a:pPr>
            <a:r>
              <a:rPr lang="en-US" sz="1900" b="1"/>
              <a:t>Peripheral data transfer rates</a:t>
            </a:r>
            <a:r>
              <a:rPr lang="en-US" sz="1900"/>
              <a:t> are slower, requiring </a:t>
            </a:r>
            <a:r>
              <a:rPr lang="en-US" sz="1900" b="1"/>
              <a:t>synchronization</a:t>
            </a:r>
            <a:r>
              <a:rPr lang="en-US" sz="1900"/>
              <a:t> with the CPU.</a:t>
            </a:r>
            <a:endParaRPr sz="1900"/>
          </a:p>
          <a:p>
            <a:pPr marL="91440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–"/>
            </a:pPr>
            <a:r>
              <a:rPr lang="en-US" sz="1900" b="1"/>
              <a:t>Data formats</a:t>
            </a:r>
            <a:r>
              <a:rPr lang="en-US" sz="1900"/>
              <a:t> differ between peripherals and the CPU, requiring </a:t>
            </a:r>
            <a:r>
              <a:rPr lang="en-US" sz="1900" b="1"/>
              <a:t>format conversion</a:t>
            </a:r>
            <a:r>
              <a:rPr lang="en-US" sz="1900"/>
              <a:t>.</a:t>
            </a:r>
            <a:endParaRPr sz="1900"/>
          </a:p>
          <a:p>
            <a:pPr marL="91440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–"/>
            </a:pPr>
            <a:r>
              <a:rPr lang="en-US" sz="1900"/>
              <a:t>Each peripheral device has its own operating mode, which must be managed to avoid </a:t>
            </a:r>
            <a:r>
              <a:rPr lang="en-US" sz="1900" b="1"/>
              <a:t>disturbing</a:t>
            </a:r>
            <a:r>
              <a:rPr lang="en-US" sz="1900"/>
              <a:t> other devices.</a:t>
            </a:r>
            <a:endParaRPr sz="19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febea9a07c_0_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Types of Peripheral Devices</a:t>
            </a:r>
            <a:endParaRPr/>
          </a:p>
        </p:txBody>
      </p:sp>
      <p:sp>
        <p:nvSpPr>
          <p:cNvPr id="117" name="Google Shape;117;g2febea9a07c_0_6"/>
          <p:cNvSpPr txBox="1">
            <a:spLocks noGrp="1"/>
          </p:cNvSpPr>
          <p:nvPr>
            <p:ph type="body" idx="1"/>
          </p:nvPr>
        </p:nvSpPr>
        <p:spPr>
          <a:xfrm>
            <a:off x="0" y="1219200"/>
            <a:ext cx="4982400" cy="56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92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US" sz="1900" dirty="0"/>
              <a:t>A peripheral is a device connected to a host computer that expands its capabilities but is not part of the core architecture.</a:t>
            </a:r>
            <a:endParaRPr sz="1900" dirty="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900" dirty="0"/>
          </a:p>
          <a:p>
            <a:pPr marL="457200" lvl="0" indent="-3492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US" sz="1900" dirty="0"/>
              <a:t>It can be partially or completely dependent on the host for operation.</a:t>
            </a:r>
            <a:endParaRPr sz="1900" dirty="0"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900" dirty="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b="1" dirty="0"/>
              <a:t>Types of Peripheral Devices:</a:t>
            </a:r>
            <a:endParaRPr sz="1900" b="1" dirty="0"/>
          </a:p>
          <a:p>
            <a:pPr marL="457200" lvl="0" indent="-3492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US" sz="1900" b="1" dirty="0"/>
              <a:t>Input Devices:</a:t>
            </a:r>
            <a:r>
              <a:rPr lang="en-US" sz="1900" dirty="0"/>
              <a:t> Devices that send data to the computer (e.g., keyboard, mouse).</a:t>
            </a:r>
            <a:endParaRPr sz="1900" dirty="0"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900" dirty="0"/>
          </a:p>
          <a:p>
            <a:pPr marL="457200" lvl="0" indent="-3492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US" sz="1900" b="1" dirty="0"/>
              <a:t>Output Devices:</a:t>
            </a:r>
            <a:r>
              <a:rPr lang="en-US" sz="1900" dirty="0"/>
              <a:t> Devices that receive data from the computer (e.g., monitor, printer).</a:t>
            </a:r>
            <a:endParaRPr sz="1900" dirty="0"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900" dirty="0"/>
          </a:p>
          <a:p>
            <a:pPr marL="457200" lvl="0" indent="-3492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US" sz="1900" b="1" dirty="0"/>
              <a:t>Input/Output Devices:</a:t>
            </a:r>
            <a:r>
              <a:rPr lang="en-US" sz="1900" dirty="0"/>
              <a:t> Devices that both send and receive data (e.g., external hard drives).</a:t>
            </a:r>
            <a:endParaRPr sz="1900" dirty="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 dirty="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900" dirty="0"/>
          </a:p>
        </p:txBody>
      </p:sp>
      <p:pic>
        <p:nvPicPr>
          <p:cNvPr id="118" name="Google Shape;118;g2febea9a07c_0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82450" y="1911125"/>
            <a:ext cx="4161549" cy="32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0ccf79e437_0_3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How does a computer work?</a:t>
            </a:r>
            <a:endParaRPr/>
          </a:p>
        </p:txBody>
      </p:sp>
      <p:sp>
        <p:nvSpPr>
          <p:cNvPr id="125" name="Google Shape;125;g30ccf79e437_0_3"/>
          <p:cNvSpPr txBox="1">
            <a:spLocks noGrp="1"/>
          </p:cNvSpPr>
          <p:nvPr>
            <p:ph type="body" idx="1"/>
          </p:nvPr>
        </p:nvSpPr>
        <p:spPr>
          <a:xfrm>
            <a:off x="304800" y="1416000"/>
            <a:ext cx="38226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300"/>
              <a:t>Functions of a Computer-</a:t>
            </a:r>
            <a:endParaRPr sz="23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300"/>
          </a:p>
          <a:p>
            <a:pPr marL="457200" lvl="0" indent="-3746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Input</a:t>
            </a:r>
            <a:endParaRPr sz="23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300"/>
          </a:p>
          <a:p>
            <a:pPr marL="457200" lvl="0" indent="-3746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Processing</a:t>
            </a:r>
            <a:endParaRPr sz="23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300"/>
          </a:p>
          <a:p>
            <a:pPr marL="457200" lvl="0" indent="-3746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Output</a:t>
            </a:r>
            <a:endParaRPr sz="23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300"/>
          </a:p>
          <a:p>
            <a:pPr marL="457200" lvl="0" indent="-3746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Storage</a:t>
            </a:r>
            <a:endParaRPr sz="2300"/>
          </a:p>
        </p:txBody>
      </p:sp>
      <p:pic>
        <p:nvPicPr>
          <p:cNvPr id="126" name="Google Shape;126;g30ccf79e437_0_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49388" y="2003013"/>
            <a:ext cx="5457825" cy="334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0cca46aa01_0_9"/>
          <p:cNvSpPr txBox="1">
            <a:spLocks noGrp="1"/>
          </p:cNvSpPr>
          <p:nvPr>
            <p:ph type="title"/>
          </p:nvPr>
        </p:nvSpPr>
        <p:spPr>
          <a:xfrm>
            <a:off x="304800" y="797700"/>
            <a:ext cx="8534400" cy="8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How does a computer work?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g30cca46aa01_0_9"/>
          <p:cNvSpPr txBox="1">
            <a:spLocks noGrp="1"/>
          </p:cNvSpPr>
          <p:nvPr>
            <p:ph type="body" idx="1"/>
          </p:nvPr>
        </p:nvSpPr>
        <p:spPr>
          <a:xfrm>
            <a:off x="304800" y="1219200"/>
            <a:ext cx="91440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 b="1">
                <a:latin typeface="Arial"/>
                <a:ea typeface="Arial"/>
                <a:cs typeface="Arial"/>
                <a:sym typeface="Arial"/>
              </a:rPr>
              <a:t>Input</a:t>
            </a:r>
            <a:endParaRPr sz="18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Data entered through devices like Keyboard, Mouse, Scanner.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Can be analog (e.g., microphone) or digital (e.g., keyboard).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800" b="1">
                <a:latin typeface="Arial"/>
                <a:ea typeface="Arial"/>
                <a:cs typeface="Arial"/>
                <a:sym typeface="Arial"/>
              </a:rPr>
              <a:t>Processing</a:t>
            </a:r>
            <a:endParaRPr sz="18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Handled by the CPU (Central Processing Unit), the computer's brain.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Performs calculations and controls tasks.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RAM (Memory) provides temporary storage for fast access.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800" b="1">
                <a:latin typeface="Arial"/>
                <a:ea typeface="Arial"/>
                <a:cs typeface="Arial"/>
                <a:sym typeface="Arial"/>
              </a:rPr>
              <a:t>Output</a:t>
            </a:r>
            <a:endParaRPr sz="18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Results displayed on output devices such as Monitor, Printer, Speakers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Forms of output: visual, printed, or audio.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800" b="1">
                <a:latin typeface="Arial"/>
                <a:ea typeface="Arial"/>
                <a:cs typeface="Arial"/>
                <a:sym typeface="Arial"/>
              </a:rPr>
              <a:t>Storage</a:t>
            </a:r>
            <a:endParaRPr sz="18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Processed information saved in HDD/SSD, Cloud Storage.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Stored as files, images, or databases.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0ccf79e437_0_11"/>
          <p:cNvSpPr txBox="1">
            <a:spLocks noGrp="1"/>
          </p:cNvSpPr>
          <p:nvPr>
            <p:ph type="title"/>
          </p:nvPr>
        </p:nvSpPr>
        <p:spPr>
          <a:xfrm>
            <a:off x="304800" y="890925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Software hierarchy of a computer system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pic>
        <p:nvPicPr>
          <p:cNvPr id="140" name="Google Shape;140;g30ccf79e437_0_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7363" y="1839737"/>
            <a:ext cx="5629275" cy="493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0ccf79e437_0_19"/>
          <p:cNvSpPr txBox="1">
            <a:spLocks noGrp="1"/>
          </p:cNvSpPr>
          <p:nvPr>
            <p:ph type="title"/>
          </p:nvPr>
        </p:nvSpPr>
        <p:spPr>
          <a:xfrm>
            <a:off x="304800" y="7620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>
                <a:solidFill>
                  <a:schemeClr val="dk1"/>
                </a:solidFill>
              </a:rPr>
              <a:t>Software hierarchy of a computer system</a:t>
            </a:r>
            <a:endParaRPr sz="4000"/>
          </a:p>
        </p:txBody>
      </p:sp>
      <p:sp>
        <p:nvSpPr>
          <p:cNvPr id="147" name="Google Shape;147;g30ccf79e437_0_19"/>
          <p:cNvSpPr txBox="1">
            <a:spLocks noGrp="1"/>
          </p:cNvSpPr>
          <p:nvPr>
            <p:ph type="body" idx="1"/>
          </p:nvPr>
        </p:nvSpPr>
        <p:spPr>
          <a:xfrm>
            <a:off x="0" y="1219200"/>
            <a:ext cx="6179400" cy="6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238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00"/>
              <a:buChar char="•"/>
            </a:pPr>
            <a:r>
              <a:rPr lang="en-US" sz="1500" b="1"/>
              <a:t>User</a:t>
            </a:r>
            <a:endParaRPr sz="1500" b="1"/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The person interacting with the computer, using various applications for tasks such as word processing, spreadsheets, or graphics.</a:t>
            </a:r>
            <a:endParaRPr sz="15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500"/>
          </a:p>
          <a:p>
            <a:pPr marL="457200" marR="0" lvl="0" indent="-3238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00"/>
              <a:buChar char="•"/>
            </a:pPr>
            <a:r>
              <a:rPr lang="en-US" sz="1500" b="1"/>
              <a:t>Application Software</a:t>
            </a:r>
            <a:endParaRPr sz="1500" b="1"/>
          </a:p>
          <a:p>
            <a: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Programs used by the user to perform specific tasks, including:</a:t>
            </a:r>
            <a:endParaRPr sz="1500"/>
          </a:p>
          <a:p>
            <a: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Word Processing, Database Management, Graphics.</a:t>
            </a:r>
            <a:endParaRPr sz="1500"/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00"/>
              <a:buChar char="•"/>
            </a:pPr>
            <a:r>
              <a:rPr lang="en-US" sz="1500" b="1"/>
              <a:t>System Software</a:t>
            </a:r>
            <a:endParaRPr sz="1500" b="1"/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Manages the overall functioning of the computer:</a:t>
            </a:r>
            <a:endParaRPr sz="1500"/>
          </a:p>
          <a:p>
            <a:pPr marL="137160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1500" b="1"/>
              <a:t>Operating System (OS):</a:t>
            </a:r>
            <a:r>
              <a:rPr lang="en-US" sz="1500"/>
              <a:t> Controls hardware and provides services to application software.</a:t>
            </a:r>
            <a:endParaRPr sz="1500"/>
          </a:p>
          <a:p>
            <a:pPr marL="137160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1500" b="1"/>
              <a:t>Device Drivers:</a:t>
            </a:r>
            <a:r>
              <a:rPr lang="en-US" sz="1500"/>
              <a:t> Facilitate communication between the OS and hardware devices.</a:t>
            </a:r>
            <a:endParaRPr sz="1500"/>
          </a:p>
          <a:p>
            <a:pPr marL="137160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1500" b="1"/>
              <a:t>Utility Programs:</a:t>
            </a:r>
            <a:r>
              <a:rPr lang="en-US" sz="1500"/>
              <a:t> Perform maintenance tasks like virus scanning and disk cleanup.</a:t>
            </a:r>
            <a:endParaRPr sz="1500"/>
          </a:p>
          <a:p>
            <a:pPr marL="13716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00"/>
              <a:buChar char="•"/>
            </a:pPr>
            <a:r>
              <a:rPr lang="en-US" sz="1500" b="1"/>
              <a:t>Hardware</a:t>
            </a:r>
            <a:endParaRPr sz="1500" b="1"/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The physical components of the computer (e.g., monitor, keyboard, CPU, speakers), along with peripheral devices like printers.</a:t>
            </a:r>
            <a:endParaRPr sz="15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400"/>
          </a:p>
        </p:txBody>
      </p:sp>
      <p:pic>
        <p:nvPicPr>
          <p:cNvPr id="148" name="Google Shape;148;g30ccf79e437_0_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5200" y="1512200"/>
            <a:ext cx="2659800" cy="38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"/>
          <p:cNvSpPr txBox="1">
            <a:spLocks noGrp="1"/>
          </p:cNvSpPr>
          <p:nvPr>
            <p:ph type="title"/>
          </p:nvPr>
        </p:nvSpPr>
        <p:spPr>
          <a:xfrm>
            <a:off x="304800" y="18645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600"/>
              <a:t>BUS Architecture</a:t>
            </a:r>
            <a:endParaRPr sz="4600"/>
          </a:p>
        </p:txBody>
      </p:sp>
      <p:pic>
        <p:nvPicPr>
          <p:cNvPr id="154" name="Google Shape;15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000" y="1390025"/>
            <a:ext cx="7772399" cy="287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4"/>
          <p:cNvSpPr txBox="1"/>
          <p:nvPr/>
        </p:nvSpPr>
        <p:spPr>
          <a:xfrm>
            <a:off x="300425" y="4672150"/>
            <a:ext cx="8640000" cy="20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bus architecture is a system of pathways used for communication between components inside a computer. It transfers data, addresses, and control signals.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Components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The central processing unit that sends and receives data.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Where data is stored for quick access.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I/O Devices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Devices like keyboards, printers, etc., that interact with the CPU.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endParaRPr sz="3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</a:t>
            </a:r>
            <a:r>
              <a:rPr lang="en-US"/>
              <a:t>Bus</a:t>
            </a:r>
            <a:endParaRPr/>
          </a:p>
        </p:txBody>
      </p:sp>
      <p:sp>
        <p:nvSpPr>
          <p:cNvPr id="162" name="Google Shape;162;p5"/>
          <p:cNvSpPr txBox="1">
            <a:spLocks noGrp="1"/>
          </p:cNvSpPr>
          <p:nvPr>
            <p:ph type="body" idx="1"/>
          </p:nvPr>
        </p:nvSpPr>
        <p:spPr>
          <a:xfrm>
            <a:off x="304800" y="1219200"/>
            <a:ext cx="8839200" cy="56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A set of wires that interconnects all the components (subsystems) of a computer system.</a:t>
            </a:r>
            <a:endParaRPr sz="2100"/>
          </a:p>
          <a:p>
            <a:pPr marL="3429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10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 b="1"/>
              <a:t>Data Flow:</a:t>
            </a:r>
            <a:endParaRPr sz="2100" b="1"/>
          </a:p>
          <a:p>
            <a:pPr marL="74295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Source Component: Outputs data onto the bus.</a:t>
            </a:r>
            <a:endParaRPr sz="2100"/>
          </a:p>
          <a:p>
            <a:pPr marL="74295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Destination Component: Inputs data from the bus.</a:t>
            </a:r>
            <a:endParaRPr sz="21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10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 b="1"/>
              <a:t>Bus Hierarchy:</a:t>
            </a:r>
            <a:endParaRPr sz="2100" b="1"/>
          </a:p>
          <a:p>
            <a:pPr marL="74295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Address, Data, and Control Buses: Used to access memory and I/O controllers.</a:t>
            </a:r>
            <a:endParaRPr sz="2100"/>
          </a:p>
          <a:p>
            <a:pPr marL="74295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I/O Controller: Second set of buses connects the I/O controller to attached devices (e.g., peripherals).</a:t>
            </a:r>
            <a:endParaRPr sz="21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10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 b="1"/>
              <a:t>Example:</a:t>
            </a:r>
            <a:r>
              <a:rPr lang="en-US" sz="2100"/>
              <a:t> PCI Bus: A common local bus example used in many computer systems.</a:t>
            </a:r>
            <a:endParaRPr sz="2100"/>
          </a:p>
          <a:p>
            <a:pPr marL="342900" lvl="0" indent="-184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•"/>
            </a:pPr>
            <a:endParaRPr sz="2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Address </a:t>
            </a:r>
            <a:r>
              <a:rPr lang="en-US"/>
              <a:t>B</a:t>
            </a: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</a:t>
            </a:r>
            <a:endParaRPr/>
          </a:p>
        </p:txBody>
      </p:sp>
      <p:sp>
        <p:nvSpPr>
          <p:cNvPr id="168" name="Google Shape;168;p6"/>
          <p:cNvSpPr txBox="1">
            <a:spLocks noGrp="1"/>
          </p:cNvSpPr>
          <p:nvPr>
            <p:ph type="body" idx="1"/>
          </p:nvPr>
        </p:nvSpPr>
        <p:spPr>
          <a:xfrm>
            <a:off x="304800" y="12192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1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sz="2100" dirty="0">
                <a:latin typeface="Arial"/>
                <a:ea typeface="Arial"/>
                <a:cs typeface="Arial"/>
                <a:sym typeface="Arial"/>
              </a:rPr>
              <a:t>The CPU reads/writes data by addressing a </a:t>
            </a:r>
            <a:r>
              <a:rPr lang="en-US" sz="2100" b="1" dirty="0">
                <a:latin typeface="Arial"/>
                <a:ea typeface="Arial"/>
                <a:cs typeface="Arial"/>
                <a:sym typeface="Arial"/>
              </a:rPr>
              <a:t>unique location</a:t>
            </a:r>
            <a:r>
              <a:rPr lang="en-US" sz="2100" dirty="0">
                <a:latin typeface="Arial"/>
                <a:ea typeface="Arial"/>
                <a:cs typeface="Arial"/>
                <a:sym typeface="Arial"/>
              </a:rPr>
              <a:t>. The location is output onto the address bus, and the memory uses it to access the proper data.</a:t>
            </a:r>
            <a:endParaRPr sz="210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endParaRPr sz="2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sz="2100" b="1" dirty="0">
                <a:latin typeface="Arial"/>
                <a:ea typeface="Arial"/>
                <a:cs typeface="Arial"/>
                <a:sym typeface="Arial"/>
              </a:rPr>
              <a:t>Unique Addresses</a:t>
            </a:r>
            <a:r>
              <a:rPr lang="en-US" sz="2100" dirty="0">
                <a:latin typeface="Arial"/>
                <a:ea typeface="Arial"/>
                <a:cs typeface="Arial"/>
                <a:sym typeface="Arial"/>
              </a:rPr>
              <a:t>:</a:t>
            </a:r>
            <a:endParaRPr sz="21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–"/>
            </a:pPr>
            <a:r>
              <a:rPr lang="en-US" sz="2100" dirty="0">
                <a:latin typeface="Arial"/>
                <a:ea typeface="Arial"/>
                <a:cs typeface="Arial"/>
                <a:sym typeface="Arial"/>
              </a:rPr>
              <a:t>Each I/O device (e.g., monitor, keyboard) has its own unique address.</a:t>
            </a:r>
            <a:endParaRPr sz="21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–"/>
            </a:pPr>
            <a:r>
              <a:rPr lang="en-US" sz="2100" dirty="0">
                <a:latin typeface="Arial"/>
                <a:ea typeface="Arial"/>
                <a:cs typeface="Arial"/>
                <a:sym typeface="Arial"/>
              </a:rPr>
              <a:t>CPU places the address on the address bus when accessing an I/O device, and the correct device acts accordingly.</a:t>
            </a:r>
            <a:endParaRPr sz="2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2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sz="2100" b="1" dirty="0">
                <a:latin typeface="Arial"/>
                <a:ea typeface="Arial"/>
                <a:cs typeface="Arial"/>
                <a:sym typeface="Arial"/>
              </a:rPr>
              <a:t>Uni-Directional</a:t>
            </a:r>
            <a:r>
              <a:rPr lang="en-US" sz="2100" dirty="0">
                <a:latin typeface="Arial"/>
                <a:ea typeface="Arial"/>
                <a:cs typeface="Arial"/>
                <a:sym typeface="Arial"/>
              </a:rPr>
              <a:t>:</a:t>
            </a:r>
            <a:endParaRPr sz="21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–"/>
            </a:pPr>
            <a:r>
              <a:rPr lang="en-US" sz="2100" dirty="0">
                <a:latin typeface="Arial"/>
                <a:ea typeface="Arial"/>
                <a:cs typeface="Arial"/>
                <a:sym typeface="Arial"/>
              </a:rPr>
              <a:t>Data flows </a:t>
            </a:r>
            <a:r>
              <a:rPr lang="en-US" sz="2100" b="1" dirty="0">
                <a:latin typeface="Arial"/>
                <a:ea typeface="Arial"/>
                <a:cs typeface="Arial"/>
                <a:sym typeface="Arial"/>
              </a:rPr>
              <a:t>only from the CPU</a:t>
            </a:r>
            <a:r>
              <a:rPr lang="en-US" sz="2100" dirty="0">
                <a:latin typeface="Arial"/>
                <a:ea typeface="Arial"/>
                <a:cs typeface="Arial"/>
                <a:sym typeface="Arial"/>
              </a:rPr>
              <a:t> to the address bus.</a:t>
            </a:r>
            <a:endParaRPr sz="21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–"/>
            </a:pPr>
            <a:r>
              <a:rPr lang="en-US" sz="2100" dirty="0">
                <a:latin typeface="Arial"/>
                <a:ea typeface="Arial"/>
                <a:cs typeface="Arial"/>
                <a:sym typeface="Arial"/>
              </a:rPr>
              <a:t>The CPU never reads data from the address bus.</a:t>
            </a:r>
            <a:endParaRPr sz="2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3300" dirty="0"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3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</a:t>
            </a:r>
            <a:r>
              <a:rPr lang="en-US"/>
              <a:t>B</a:t>
            </a: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</a:t>
            </a:r>
            <a:endParaRPr/>
          </a:p>
        </p:txBody>
      </p:sp>
      <p:sp>
        <p:nvSpPr>
          <p:cNvPr id="174" name="Google Shape;174;p7"/>
          <p:cNvSpPr txBox="1">
            <a:spLocks noGrp="1"/>
          </p:cNvSpPr>
          <p:nvPr>
            <p:ph type="body" idx="1"/>
          </p:nvPr>
        </p:nvSpPr>
        <p:spPr>
          <a:xfrm>
            <a:off x="0" y="1219200"/>
            <a:ext cx="9144000" cy="56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1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Transfers actual data between the CPU, memory, and I/O devices.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sz="2100" b="1">
                <a:latin typeface="Arial"/>
                <a:ea typeface="Arial"/>
                <a:cs typeface="Arial"/>
                <a:sym typeface="Arial"/>
              </a:rPr>
              <a:t>Data Transfer Process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: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–"/>
            </a:pPr>
            <a:r>
              <a:rPr lang="en-US" sz="2100" b="1">
                <a:latin typeface="Arial"/>
                <a:ea typeface="Arial"/>
                <a:cs typeface="Arial"/>
                <a:sym typeface="Arial"/>
              </a:rPr>
              <a:t>CPU Fetches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: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marL="1371600" lvl="2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CPU outputs address on the </a:t>
            </a:r>
            <a:r>
              <a:rPr lang="en-US" sz="2100" b="1">
                <a:latin typeface="Arial"/>
                <a:ea typeface="Arial"/>
                <a:cs typeface="Arial"/>
                <a:sym typeface="Arial"/>
              </a:rPr>
              <a:t>address bus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marL="1371600" lvl="2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Memory outputs data onto the </a:t>
            </a:r>
            <a:r>
              <a:rPr lang="en-US" sz="2100" b="1">
                <a:latin typeface="Arial"/>
                <a:ea typeface="Arial"/>
                <a:cs typeface="Arial"/>
                <a:sym typeface="Arial"/>
              </a:rPr>
              <a:t>data bus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marL="1371600" lvl="2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CPU reads the data from the data bus.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–"/>
            </a:pPr>
            <a:r>
              <a:rPr lang="en-US" sz="2100" b="1">
                <a:latin typeface="Arial"/>
                <a:ea typeface="Arial"/>
                <a:cs typeface="Arial"/>
                <a:sym typeface="Arial"/>
              </a:rPr>
              <a:t>CPU Writes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: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marL="1371600" lvl="2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CPU outputs address on the </a:t>
            </a:r>
            <a:r>
              <a:rPr lang="en-US" sz="2100" b="1">
                <a:latin typeface="Arial"/>
                <a:ea typeface="Arial"/>
                <a:cs typeface="Arial"/>
                <a:sym typeface="Arial"/>
              </a:rPr>
              <a:t>address bus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marL="1371600" lvl="2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CPU outputs data onto the </a:t>
            </a:r>
            <a:r>
              <a:rPr lang="en-US" sz="2100" b="1">
                <a:latin typeface="Arial"/>
                <a:ea typeface="Arial"/>
                <a:cs typeface="Arial"/>
                <a:sym typeface="Arial"/>
              </a:rPr>
              <a:t>data bus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marL="1371600" lvl="2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Memory reads the data and stores it.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sz="2100" b="1">
                <a:latin typeface="Arial"/>
                <a:ea typeface="Arial"/>
                <a:cs typeface="Arial"/>
                <a:sym typeface="Arial"/>
              </a:rPr>
              <a:t>Bidirectional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US" sz="2100">
                <a:latin typeface="Arial"/>
                <a:ea typeface="Arial"/>
                <a:cs typeface="Arial"/>
                <a:sym typeface="Arial"/>
              </a:rPr>
            </a:br>
            <a:r>
              <a:rPr lang="en-US" sz="2100">
                <a:latin typeface="Arial"/>
                <a:ea typeface="Arial"/>
                <a:cs typeface="Arial"/>
                <a:sym typeface="Arial"/>
              </a:rPr>
              <a:t>	- Data can flow to and from the CPU.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</a:t>
            </a:r>
            <a:r>
              <a:rPr lang="en-US"/>
              <a:t>B</a:t>
            </a: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</a:t>
            </a:r>
            <a:endParaRPr/>
          </a:p>
        </p:txBody>
      </p:sp>
      <p:sp>
        <p:nvSpPr>
          <p:cNvPr id="180" name="Google Shape;180;p8"/>
          <p:cNvSpPr txBox="1">
            <a:spLocks noGrp="1"/>
          </p:cNvSpPr>
          <p:nvPr>
            <p:ph type="body" idx="1"/>
          </p:nvPr>
        </p:nvSpPr>
        <p:spPr>
          <a:xfrm>
            <a:off x="0" y="1219200"/>
            <a:ext cx="9144000" cy="56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The control bus is a collection of individual control signals, unlike address and data buses that transmit n-bit values.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Signals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: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Read/Write Signals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: Whether data is being read into or written out of the CPU.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Memory/I/O Signals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: Whether the CPU is accessing memory or an I/O device.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Ready Signals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: Whether the I/O device or memory is ready for data transfer.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Mostly Unidirectional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US" sz="20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	- Control signals can flow to and from the CPU for synchronization between the CPU and other components like memory and I/O devices.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0ccf79e437_0_34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Tri- state Logic</a:t>
            </a:r>
            <a:endParaRPr/>
          </a:p>
        </p:txBody>
      </p:sp>
      <p:sp>
        <p:nvSpPr>
          <p:cNvPr id="187" name="Google Shape;187;g30ccf79e437_0_34"/>
          <p:cNvSpPr txBox="1">
            <a:spLocks noGrp="1"/>
          </p:cNvSpPr>
          <p:nvPr>
            <p:ph type="body" idx="1"/>
          </p:nvPr>
        </p:nvSpPr>
        <p:spPr>
          <a:xfrm>
            <a:off x="0" y="1219200"/>
            <a:ext cx="5604600" cy="55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Tri-state logic allows a bus to be shared by multiple devices but ensures that only one device can access the bus at any given time.</a:t>
            </a: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200"/>
              <a:buChar char="•"/>
            </a:pPr>
            <a:r>
              <a:rPr lang="en-US" sz="2200" b="1"/>
              <a:t>Three States</a:t>
            </a:r>
            <a:r>
              <a:rPr lang="en-US" sz="2200"/>
              <a:t>:</a:t>
            </a:r>
            <a:endParaRPr sz="220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-US" sz="2200" b="1"/>
              <a:t>Logic 0:</a:t>
            </a:r>
            <a:r>
              <a:rPr lang="en-US" sz="2200"/>
              <a:t> Represents a low voltage signal (e.g., 0V).</a:t>
            </a:r>
            <a:endParaRPr sz="220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-US" sz="2200" b="1"/>
              <a:t>Logic 1:</a:t>
            </a:r>
            <a:r>
              <a:rPr lang="en-US" sz="2200"/>
              <a:t> Represents a high voltage signal (e.g., 5V).</a:t>
            </a:r>
            <a:endParaRPr sz="220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-US" sz="2200" b="1"/>
              <a:t>High Impedance (Hi-Z):</a:t>
            </a:r>
            <a:r>
              <a:rPr lang="en-US" sz="2200"/>
              <a:t> This is the third state where the device is effectively disconnected from the circuit and does not influence the bus.</a:t>
            </a: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100"/>
          </a:p>
        </p:txBody>
      </p:sp>
      <p:pic>
        <p:nvPicPr>
          <p:cNvPr id="188" name="Google Shape;188;g30ccf79e437_0_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27773" y="1404938"/>
            <a:ext cx="3616225" cy="40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0ccf79e437_0_45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How Tri-Stating works</a:t>
            </a:r>
            <a:endParaRPr/>
          </a:p>
        </p:txBody>
      </p:sp>
      <p:sp>
        <p:nvSpPr>
          <p:cNvPr id="195" name="Google Shape;195;g30ccf79e437_0_45"/>
          <p:cNvSpPr txBox="1">
            <a:spLocks noGrp="1"/>
          </p:cNvSpPr>
          <p:nvPr>
            <p:ph type="body" idx="1"/>
          </p:nvPr>
        </p:nvSpPr>
        <p:spPr>
          <a:xfrm>
            <a:off x="0" y="1219200"/>
            <a:ext cx="91440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746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When a device is in the Hi-Z state, it acts as though it is disconnected, preventing interference with other devices on the bus.</a:t>
            </a:r>
            <a:endParaRPr sz="23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300"/>
          </a:p>
          <a:p>
            <a:pPr marL="457200" lvl="0" indent="-3746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This enables multiple devices to be connected to the same bus but ensures that only one device is active at a time.</a:t>
            </a:r>
            <a:endParaRPr sz="23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500"/>
          </a:p>
        </p:txBody>
      </p:sp>
      <p:pic>
        <p:nvPicPr>
          <p:cNvPr id="196" name="Google Shape;196;g30ccf79e437_0_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3214450"/>
            <a:ext cx="853440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0ccf79e437_0_54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Advantages of Tri-State Bus</a:t>
            </a:r>
            <a:endParaRPr/>
          </a:p>
        </p:txBody>
      </p:sp>
      <p:sp>
        <p:nvSpPr>
          <p:cNvPr id="203" name="Google Shape;203;g30ccf79e437_0_54"/>
          <p:cNvSpPr txBox="1">
            <a:spLocks noGrp="1"/>
          </p:cNvSpPr>
          <p:nvPr>
            <p:ph type="body" idx="1"/>
          </p:nvPr>
        </p:nvSpPr>
        <p:spPr>
          <a:xfrm>
            <a:off x="0" y="1561050"/>
            <a:ext cx="91440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To resolve conflict between multiple sources driving the shared bus line.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To use the same port as both for input and output operation.</a:t>
            </a:r>
            <a:endParaRPr/>
          </a:p>
          <a:p>
            <a:pPr marL="9144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200"/>
              <a:t>Note: not all devices need to drive all bus lines.</a:t>
            </a:r>
            <a:endParaRPr sz="220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It higher the bus fan out.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0ccf79e437_0_62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Bus Interfacing</a:t>
            </a:r>
            <a:endParaRPr/>
          </a:p>
        </p:txBody>
      </p:sp>
      <p:sp>
        <p:nvSpPr>
          <p:cNvPr id="210" name="Google Shape;210;g30ccf79e437_0_62"/>
          <p:cNvSpPr txBox="1">
            <a:spLocks noGrp="1"/>
          </p:cNvSpPr>
          <p:nvPr>
            <p:ph type="body" idx="1"/>
          </p:nvPr>
        </p:nvSpPr>
        <p:spPr>
          <a:xfrm>
            <a:off x="0" y="1219200"/>
            <a:ext cx="91440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/>
              <a:t>Bus Master:</a:t>
            </a:r>
            <a:r>
              <a:rPr lang="en-US" sz="2000"/>
              <a:t> The device that controls communication on the bus, determining who will speak and who will listen.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The</a:t>
            </a:r>
            <a:r>
              <a:rPr lang="en-US" sz="2000" b="1"/>
              <a:t> CPU</a:t>
            </a:r>
            <a:r>
              <a:rPr lang="en-US" sz="2000"/>
              <a:t> is typically the bus master.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-US" sz="2000" b="1"/>
              <a:t>Advanced buses</a:t>
            </a:r>
            <a:r>
              <a:rPr lang="en-US" sz="2000"/>
              <a:t> can allow other devices to become bus masters when necessary.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/>
              <a:t>Input/Output Operations:</a:t>
            </a:r>
            <a:endParaRPr sz="2000" b="1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READ: Data moves into the bus master (input).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WRITE: Data moves out from the bus master (output).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/>
              <a:t>Bus Lines:</a:t>
            </a:r>
            <a:endParaRPr sz="2000" b="1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Each bus has several lines dedicated to three main functions:</a:t>
            </a:r>
            <a:endParaRPr sz="2000"/>
          </a:p>
          <a:p>
            <a:pPr marL="137160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Addressing</a:t>
            </a:r>
            <a:endParaRPr sz="2000"/>
          </a:p>
          <a:p>
            <a:pPr marL="137160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Data Transfer</a:t>
            </a:r>
            <a:endParaRPr sz="2000"/>
          </a:p>
          <a:p>
            <a:pPr marL="137160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Control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0ccf79e437_0_69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Bus Errors and Conflicts</a:t>
            </a:r>
            <a:endParaRPr/>
          </a:p>
        </p:txBody>
      </p:sp>
      <p:sp>
        <p:nvSpPr>
          <p:cNvPr id="217" name="Google Shape;217;g30ccf79e437_0_69"/>
          <p:cNvSpPr txBox="1">
            <a:spLocks noGrp="1"/>
          </p:cNvSpPr>
          <p:nvPr>
            <p:ph type="body" idx="1"/>
          </p:nvPr>
        </p:nvSpPr>
        <p:spPr>
          <a:xfrm>
            <a:off x="0" y="1219200"/>
            <a:ext cx="91440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746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US" sz="2300" b="1"/>
              <a:t>Bus Conflict: </a:t>
            </a:r>
            <a:r>
              <a:rPr lang="en-US" sz="2300"/>
              <a:t>Occurs when multiple I/O devices try to use the bus simultaneously as output.</a:t>
            </a:r>
            <a:endParaRPr sz="23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/>
          </a:p>
          <a:p>
            <a:pPr marL="457200" lvl="0" indent="-3746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US" sz="2300" b="1"/>
              <a:t>No Conflict:</a:t>
            </a:r>
            <a:r>
              <a:rPr lang="en-US" sz="2300"/>
              <a:t> If one device is used as output and others as input, no bus error occurs.</a:t>
            </a:r>
            <a:endParaRPr sz="23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/>
          </a:p>
          <a:p>
            <a:pPr marL="457200" lvl="0" indent="-3746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US" sz="2300" b="1"/>
              <a:t>Causes of Bus Errors:</a:t>
            </a:r>
            <a:endParaRPr sz="2300"/>
          </a:p>
          <a:p>
            <a:pPr marL="9144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Multiple devices using the bus as output at the same time.</a:t>
            </a:r>
            <a:endParaRPr sz="2300"/>
          </a:p>
          <a:p>
            <a:pPr marL="9144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Wait states not being properly maintained (mismatch between speeds).</a:t>
            </a:r>
            <a:endParaRPr sz="2300"/>
          </a:p>
          <a:p>
            <a:pPr marL="9144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An I/O device causing a bus pin to get stuck at 1 or 0.</a:t>
            </a:r>
            <a:endParaRPr sz="2300"/>
          </a:p>
          <a:p>
            <a:pPr marL="9144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Glitches: Short-lived faults that may cause transient errors.</a:t>
            </a:r>
            <a:endParaRPr sz="23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0ccf79e437_0_77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Wait States &amp; Glitches</a:t>
            </a:r>
            <a:endParaRPr/>
          </a:p>
        </p:txBody>
      </p:sp>
      <p:sp>
        <p:nvSpPr>
          <p:cNvPr id="224" name="Google Shape;224;g30ccf79e437_0_77"/>
          <p:cNvSpPr txBox="1">
            <a:spLocks noGrp="1"/>
          </p:cNvSpPr>
          <p:nvPr>
            <p:ph type="body" idx="1"/>
          </p:nvPr>
        </p:nvSpPr>
        <p:spPr>
          <a:xfrm>
            <a:off x="304800" y="12192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746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US" sz="2300" b="1"/>
              <a:t>Wait State:</a:t>
            </a:r>
            <a:r>
              <a:rPr lang="en-US" sz="2300"/>
              <a:t> A time-out period when the CPU or bus lies idle to account for components working at different speeds.</a:t>
            </a:r>
            <a:endParaRPr sz="2300"/>
          </a:p>
          <a:p>
            <a:pPr marL="914400" lvl="1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–"/>
            </a:pPr>
            <a:r>
              <a:rPr lang="en-US" sz="2300"/>
              <a:t>Necessary when the CPU is faster than the memory or other components.</a:t>
            </a:r>
            <a:endParaRPr sz="2300"/>
          </a:p>
          <a:p>
            <a:pPr marL="914400" lvl="1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–"/>
            </a:pPr>
            <a:r>
              <a:rPr lang="en-US" sz="2300"/>
              <a:t>Without proper wait states, synchronization issues can lead to bus errors.</a:t>
            </a:r>
            <a:endParaRPr sz="23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/>
          </a:p>
          <a:p>
            <a:pPr marL="457200" lvl="0" indent="-3746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US" sz="2300" b="1"/>
              <a:t>Glitches:</a:t>
            </a:r>
            <a:r>
              <a:rPr lang="en-US" sz="2300"/>
              <a:t> A temporary fault that is self-correcting but can cause errors like signal transitions at the wrong time.</a:t>
            </a:r>
            <a:endParaRPr sz="2300"/>
          </a:p>
          <a:p>
            <a:pPr marL="914400" lvl="1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–"/>
            </a:pPr>
            <a:r>
              <a:rPr lang="en-US" sz="2300"/>
              <a:t>Example: In I2C bus systems, glitches can cause incorrect start commands to be detected, disrupting communication.</a:t>
            </a:r>
            <a:endParaRPr sz="23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5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febea9a07c_0_0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Computer Ports</a:t>
            </a:r>
            <a:endParaRPr/>
          </a:p>
        </p:txBody>
      </p:sp>
      <p:sp>
        <p:nvSpPr>
          <p:cNvPr id="231" name="Google Shape;231;g2febea9a07c_0_0"/>
          <p:cNvSpPr txBox="1">
            <a:spLocks noGrp="1"/>
          </p:cNvSpPr>
          <p:nvPr>
            <p:ph type="body" idx="1"/>
          </p:nvPr>
        </p:nvSpPr>
        <p:spPr>
          <a:xfrm>
            <a:off x="0" y="1840750"/>
            <a:ext cx="5210700" cy="56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Computer ports are connection points or interfaces with other peripheral devices.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There are two main type of computer ports: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Parallel Ports 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Serial Ports 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Others types are also there • PS2, SCSI etc.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3800"/>
          </a:p>
        </p:txBody>
      </p:sp>
      <p:pic>
        <p:nvPicPr>
          <p:cNvPr id="232" name="Google Shape;232;g2febea9a07c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00700" y="1556200"/>
            <a:ext cx="3543300" cy="411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0da663daba_0_1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Parallel Port</a:t>
            </a:r>
            <a:endParaRPr/>
          </a:p>
        </p:txBody>
      </p:sp>
      <p:sp>
        <p:nvSpPr>
          <p:cNvPr id="239" name="Google Shape;239;g30da663daba_0_1"/>
          <p:cNvSpPr txBox="1">
            <a:spLocks noGrp="1"/>
          </p:cNvSpPr>
          <p:nvPr>
            <p:ph type="body" idx="1"/>
          </p:nvPr>
        </p:nvSpPr>
        <p:spPr>
          <a:xfrm>
            <a:off x="0" y="1464125"/>
            <a:ext cx="4164600" cy="4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92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Used for data transfer between a computer and peripheral device through a 25 or 36 pin connector.</a:t>
            </a:r>
            <a:endParaRPr sz="1900"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900"/>
          </a:p>
          <a:p>
            <a:pPr marL="457200" lvl="0" indent="-3492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Transfers multiple bits at a time in </a:t>
            </a:r>
            <a:r>
              <a:rPr lang="en-US" sz="1900" b="1"/>
              <a:t>parallel communication</a:t>
            </a:r>
            <a:r>
              <a:rPr lang="en-US" sz="1900"/>
              <a:t>.</a:t>
            </a:r>
            <a:endParaRPr sz="1900"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900"/>
          </a:p>
          <a:p>
            <a:pPr marL="457200" lvl="0" indent="-3492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With IEEE 1284 standard, it supports </a:t>
            </a:r>
            <a:r>
              <a:rPr lang="en-US" sz="1900" b="1"/>
              <a:t>bidirectional</a:t>
            </a:r>
            <a:r>
              <a:rPr lang="en-US" sz="1900"/>
              <a:t> data transfer.</a:t>
            </a:r>
            <a:endParaRPr sz="1900"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900"/>
          </a:p>
          <a:p>
            <a:pPr marL="457200" lvl="0" indent="-3492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Speed ranges from 50 KBPS to 150 KBPS, and up to 2 MBPS with EPP and ECP modes.</a:t>
            </a:r>
            <a:endParaRPr sz="19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900"/>
          </a:p>
        </p:txBody>
      </p:sp>
      <p:pic>
        <p:nvPicPr>
          <p:cNvPr id="240" name="Google Shape;240;g30da663daba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19575" y="1345150"/>
            <a:ext cx="4924425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g30da663daba_0_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48188" y="2964400"/>
            <a:ext cx="4267200" cy="35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0da663daba_0_11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Serial Port</a:t>
            </a:r>
            <a:endParaRPr/>
          </a:p>
        </p:txBody>
      </p:sp>
      <p:sp>
        <p:nvSpPr>
          <p:cNvPr id="248" name="Google Shape;248;g30da663daba_0_11"/>
          <p:cNvSpPr txBox="1">
            <a:spLocks noGrp="1"/>
          </p:cNvSpPr>
          <p:nvPr>
            <p:ph type="body" idx="1"/>
          </p:nvPr>
        </p:nvSpPr>
        <p:spPr>
          <a:xfrm>
            <a:off x="0" y="1757900"/>
            <a:ext cx="5013900" cy="41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/>
              <a:t>Serial port</a:t>
            </a:r>
            <a:r>
              <a:rPr lang="en-US" sz="2000"/>
              <a:t> transfers data one bit at a time.</a:t>
            </a:r>
            <a:endParaRPr sz="2000"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Along with parallel port, it was commonly used for </a:t>
            </a:r>
            <a:r>
              <a:rPr lang="en-US" sz="2000" b="1"/>
              <a:t>data transfer</a:t>
            </a:r>
            <a:r>
              <a:rPr lang="en-US" sz="2000"/>
              <a:t> between computers and peripherals.</a:t>
            </a:r>
            <a:endParaRPr sz="2000"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Nowadays, it has been replaced by ports like USB, VGA, and Ethernet for more efficient communication.</a:t>
            </a:r>
            <a:endParaRPr sz="2000"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000"/>
          </a:p>
        </p:txBody>
      </p:sp>
      <p:pic>
        <p:nvPicPr>
          <p:cNvPr id="249" name="Google Shape;249;g30da663daba_0_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31975" y="1219200"/>
            <a:ext cx="3612025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g30da663daba_0_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31974" y="3429000"/>
            <a:ext cx="3612025" cy="297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0da663daba_0_27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VGA and HDMI Ports</a:t>
            </a:r>
            <a:endParaRPr/>
          </a:p>
        </p:txBody>
      </p:sp>
      <p:sp>
        <p:nvSpPr>
          <p:cNvPr id="257" name="Google Shape;257;g30da663daba_0_27"/>
          <p:cNvSpPr txBox="1">
            <a:spLocks noGrp="1"/>
          </p:cNvSpPr>
          <p:nvPr>
            <p:ph type="body" idx="1"/>
          </p:nvPr>
        </p:nvSpPr>
        <p:spPr>
          <a:xfrm>
            <a:off x="0" y="1716450"/>
            <a:ext cx="5127900" cy="4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/>
              <a:t>VGA (Video Graphics Array)</a:t>
            </a:r>
            <a:r>
              <a:rPr lang="en-US" sz="2000"/>
              <a:t> and </a:t>
            </a:r>
            <a:r>
              <a:rPr lang="en-US" sz="2000" b="1"/>
              <a:t>HDMI (High-Definition Multimedia Interface)</a:t>
            </a:r>
            <a:r>
              <a:rPr lang="en-US" sz="2000"/>
              <a:t> are interface standards used to connect devices (laptops, DVD players) to displays (TVs, monitors, projectors).</a:t>
            </a:r>
            <a:endParaRPr sz="2000"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/>
              <a:t>VGA</a:t>
            </a:r>
            <a:r>
              <a:rPr lang="en-US" sz="2000"/>
              <a:t> carries only video signals.</a:t>
            </a:r>
            <a:endParaRPr sz="2000"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/>
              <a:t>HDMI</a:t>
            </a:r>
            <a:r>
              <a:rPr lang="en-US" sz="2000"/>
              <a:t> is the standard for newer devices like Blu-Ray players and LED TVs, carrying both video and audio.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000"/>
          </a:p>
        </p:txBody>
      </p:sp>
      <p:pic>
        <p:nvPicPr>
          <p:cNvPr id="258" name="Google Shape;258;g30da663daba_0_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3000" y="1912425"/>
            <a:ext cx="3871001" cy="303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0da663daba_0_37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VGA Port</a:t>
            </a:r>
            <a:endParaRPr sz="5600"/>
          </a:p>
        </p:txBody>
      </p:sp>
      <p:sp>
        <p:nvSpPr>
          <p:cNvPr id="265" name="Google Shape;265;g30da663daba_0_37"/>
          <p:cNvSpPr txBox="1">
            <a:spLocks noGrp="1"/>
          </p:cNvSpPr>
          <p:nvPr>
            <p:ph type="body" idx="1"/>
          </p:nvPr>
        </p:nvSpPr>
        <p:spPr>
          <a:xfrm>
            <a:off x="0" y="1219200"/>
            <a:ext cx="91440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457200" lvl="0" indent="-3683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200"/>
              <a:buChar char="•"/>
            </a:pPr>
            <a:r>
              <a:rPr lang="en-US" sz="2200" b="1"/>
              <a:t>VGA</a:t>
            </a:r>
            <a:r>
              <a:rPr lang="en-US" sz="2200"/>
              <a:t> uses a 15-pin connector, usually marked in blue.</a:t>
            </a:r>
            <a:endParaRPr sz="2200"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It is an </a:t>
            </a:r>
            <a:r>
              <a:rPr lang="en-US" sz="2200" b="1"/>
              <a:t>analog video standard</a:t>
            </a:r>
            <a:r>
              <a:rPr lang="en-US" sz="2200"/>
              <a:t>, developed for older computer displays.</a:t>
            </a:r>
            <a:endParaRPr sz="2200"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VGA can only carry a </a:t>
            </a:r>
            <a:r>
              <a:rPr lang="en-US" sz="2200" b="1"/>
              <a:t>single video signal</a:t>
            </a:r>
            <a:r>
              <a:rPr lang="en-US" sz="2200"/>
              <a:t>.</a:t>
            </a:r>
            <a:endParaRPr sz="2200"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Maximum resolution: </a:t>
            </a:r>
            <a:r>
              <a:rPr lang="en-US" sz="2200" b="1"/>
              <a:t>2048×1536</a:t>
            </a:r>
            <a:r>
              <a:rPr lang="en-US" sz="2200"/>
              <a:t>, though at higher resolutions, image quality may degrade with ghosting and other issues.</a:t>
            </a: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0da663daba_0_45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HDMI Port</a:t>
            </a:r>
            <a:endParaRPr/>
          </a:p>
        </p:txBody>
      </p:sp>
      <p:sp>
        <p:nvSpPr>
          <p:cNvPr id="272" name="Google Shape;272;g30da663daba_0_45"/>
          <p:cNvSpPr txBox="1">
            <a:spLocks noGrp="1"/>
          </p:cNvSpPr>
          <p:nvPr>
            <p:ph type="body" idx="1"/>
          </p:nvPr>
        </p:nvSpPr>
        <p:spPr>
          <a:xfrm>
            <a:off x="0" y="1416025"/>
            <a:ext cx="91440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200"/>
              <a:buChar char="•"/>
            </a:pPr>
            <a:r>
              <a:rPr lang="en-US" sz="2200" b="1"/>
              <a:t>HDMI</a:t>
            </a:r>
            <a:r>
              <a:rPr lang="en-US" sz="2200"/>
              <a:t> is a </a:t>
            </a:r>
            <a:r>
              <a:rPr lang="en-US" sz="2200" b="1"/>
              <a:t>digital</a:t>
            </a:r>
            <a:r>
              <a:rPr lang="en-US" sz="2200"/>
              <a:t> interface that supports </a:t>
            </a:r>
            <a:r>
              <a:rPr lang="en-US" sz="2200" b="1"/>
              <a:t>both video and audio</a:t>
            </a:r>
            <a:r>
              <a:rPr lang="en-US" sz="2200"/>
              <a:t>.</a:t>
            </a:r>
            <a:endParaRPr sz="2200"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It uses a </a:t>
            </a:r>
            <a:r>
              <a:rPr lang="en-US" sz="2200" b="1"/>
              <a:t>19-pin connector</a:t>
            </a:r>
            <a:r>
              <a:rPr lang="en-US" sz="2200"/>
              <a:t> (HDMI A is the most common type).</a:t>
            </a:r>
            <a:endParaRPr sz="2200"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Supports high-definition resolutions without interference or signal loss.</a:t>
            </a:r>
            <a:endParaRPr sz="2200"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HDMI is more versatile, also carrying audio and, in newer versions, </a:t>
            </a:r>
            <a:r>
              <a:rPr lang="en-US" sz="2200" b="1"/>
              <a:t>internet</a:t>
            </a:r>
            <a:r>
              <a:rPr lang="en-US" sz="2200"/>
              <a:t>.</a:t>
            </a:r>
            <a:endParaRPr sz="2200"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HDMI includes encryption technology like </a:t>
            </a:r>
            <a:r>
              <a:rPr lang="en-US" sz="2200" b="1"/>
              <a:t>HDCP</a:t>
            </a:r>
            <a:r>
              <a:rPr lang="en-US" sz="2200"/>
              <a:t> for protecting data.</a:t>
            </a:r>
            <a:endParaRPr sz="2200"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0da663daba_0_53"/>
          <p:cNvSpPr txBox="1">
            <a:spLocks noGrp="1"/>
          </p:cNvSpPr>
          <p:nvPr>
            <p:ph type="body" idx="1"/>
          </p:nvPr>
        </p:nvSpPr>
        <p:spPr>
          <a:xfrm>
            <a:off x="0" y="4071300"/>
            <a:ext cx="9144000" cy="24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/>
              <a:t>Microcontroller:</a:t>
            </a:r>
            <a:r>
              <a:rPr lang="en-US" sz="2000"/>
              <a:t> A compact integrated circuit designed to govern a specific operation in an embedded system. It typically contains a processor, memory, and I/O peripherals on a single chip.</a:t>
            </a:r>
            <a:endParaRPr sz="2000"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/>
              <a:t>Microprocessor:</a:t>
            </a:r>
            <a:r>
              <a:rPr lang="en-US" sz="2000"/>
              <a:t> A general-purpose processing unit that only includes a CPU. It requires external components like memory, I/O ports, etc., to function.</a:t>
            </a:r>
            <a:endParaRPr sz="2000"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000"/>
          </a:p>
        </p:txBody>
      </p:sp>
      <p:pic>
        <p:nvPicPr>
          <p:cNvPr id="279" name="Google Shape;279;g30da663daba_0_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5213" y="0"/>
            <a:ext cx="5313576" cy="326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0da663daba_0_61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Microprocessor VS Microcontroller</a:t>
            </a:r>
            <a:endParaRPr/>
          </a:p>
        </p:txBody>
      </p:sp>
      <p:sp>
        <p:nvSpPr>
          <p:cNvPr id="286" name="Google Shape;286;g30da663daba_0_61"/>
          <p:cNvSpPr txBox="1">
            <a:spLocks noGrp="1"/>
          </p:cNvSpPr>
          <p:nvPr>
            <p:ph type="body" idx="1"/>
          </p:nvPr>
        </p:nvSpPr>
        <p:spPr>
          <a:xfrm>
            <a:off x="0" y="1219200"/>
            <a:ext cx="91440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 b="1"/>
              <a:t>Architecture:</a:t>
            </a:r>
            <a:endParaRPr sz="1800" b="1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Microcontroller: Combines a CPU, memory (RAM, ROM), and I/O peripherals all on a single chip.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Microprocessor: Contains only the CPU; requires external components like RAM, ROM, and I/O interfaces for functioning.</a:t>
            </a:r>
            <a:endParaRPr sz="1800"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/>
              <a:t>Purpose:</a:t>
            </a:r>
            <a:endParaRPr sz="1800" b="1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Microcontroller: Designed for specific control-oriented applications, often used in embedded systems.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Microprocessor: Used in general-purpose computing systems like personal computers and servers for high-performance tasks.</a:t>
            </a:r>
            <a:endParaRPr sz="1800"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 b="1"/>
              <a:t>Power Consumption:</a:t>
            </a:r>
            <a:endParaRPr sz="1800" b="1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Microcontroller: Consumes less power and is ideal for battery-powered or energy-efficient devices.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Microprocessor: Consumes more power as it handles complex computations and tasks.</a:t>
            </a:r>
            <a:endParaRPr sz="1800"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ff053b2d38_0_0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Embedded System</a:t>
            </a:r>
            <a:endParaRPr/>
          </a:p>
        </p:txBody>
      </p:sp>
      <p:sp>
        <p:nvSpPr>
          <p:cNvPr id="293" name="Google Shape;293;g2ff053b2d38_0_0"/>
          <p:cNvSpPr txBox="1">
            <a:spLocks noGrp="1"/>
          </p:cNvSpPr>
          <p:nvPr>
            <p:ph type="body" idx="1"/>
          </p:nvPr>
        </p:nvSpPr>
        <p:spPr>
          <a:xfrm>
            <a:off x="0" y="952475"/>
            <a:ext cx="4446900" cy="56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92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A specialized computing system designed to perform dedicated tasks within a larger system.</a:t>
            </a:r>
            <a:endParaRPr sz="19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/>
          </a:p>
          <a:p>
            <a:pPr marL="457200" lvl="0" indent="-3492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US" sz="1900" b="1"/>
              <a:t>Components:</a:t>
            </a:r>
            <a:endParaRPr sz="1900"/>
          </a:p>
          <a:p>
            <a:pPr marL="91440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–"/>
            </a:pPr>
            <a:r>
              <a:rPr lang="en-US" sz="1900"/>
              <a:t>CPU</a:t>
            </a:r>
            <a:endParaRPr sz="1900"/>
          </a:p>
          <a:p>
            <a:pPr marL="91440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–"/>
            </a:pPr>
            <a:r>
              <a:rPr lang="en-US" sz="1900"/>
              <a:t>Memory</a:t>
            </a:r>
            <a:endParaRPr sz="1900"/>
          </a:p>
          <a:p>
            <a:pPr marL="91440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–"/>
            </a:pPr>
            <a:r>
              <a:rPr lang="en-US" sz="1900"/>
              <a:t>Hardwired Unit: Performs application-specific tasks like timing, A/D or D/A conversions.</a:t>
            </a:r>
            <a:endParaRPr sz="1900"/>
          </a:p>
          <a:p>
            <a:pPr marL="91440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–"/>
            </a:pPr>
            <a:r>
              <a:rPr lang="en-US" sz="1900"/>
              <a:t>Sensors &amp; Actuators: Sensors collect data from the environment. Actuators take actions based on processed data.</a:t>
            </a:r>
            <a:endParaRPr sz="1900"/>
          </a:p>
          <a:p>
            <a:pPr marL="9144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900"/>
          </a:p>
          <a:p>
            <a:pPr marL="457200" lvl="0" indent="-3492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US" sz="1900" b="1"/>
              <a:t>Key Features:</a:t>
            </a:r>
            <a:endParaRPr sz="1900" b="1"/>
          </a:p>
          <a:p>
            <a:pPr marL="91440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–"/>
            </a:pPr>
            <a:r>
              <a:rPr lang="en-US" sz="1900"/>
              <a:t>Designed for specific tasks.</a:t>
            </a:r>
            <a:endParaRPr sz="1900"/>
          </a:p>
          <a:p>
            <a:pPr marL="91440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–"/>
            </a:pPr>
            <a:r>
              <a:rPr lang="en-US" sz="1900"/>
              <a:t>Real-time performance.</a:t>
            </a:r>
            <a:endParaRPr sz="1900"/>
          </a:p>
          <a:p>
            <a:pPr marL="91440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–"/>
            </a:pPr>
            <a:r>
              <a:rPr lang="en-US" sz="1900"/>
              <a:t>Compact and power-efficient.</a:t>
            </a:r>
            <a:endParaRPr sz="19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900"/>
          </a:p>
        </p:txBody>
      </p:sp>
      <p:pic>
        <p:nvPicPr>
          <p:cNvPr id="294" name="Google Shape;294;g2ff053b2d38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39825" y="1976425"/>
            <a:ext cx="4804174" cy="35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ff053b2d38_0_16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Systems on a chip (SoC)</a:t>
            </a:r>
            <a:endParaRPr/>
          </a:p>
        </p:txBody>
      </p:sp>
      <p:sp>
        <p:nvSpPr>
          <p:cNvPr id="301" name="Google Shape;301;g2ff053b2d38_0_16"/>
          <p:cNvSpPr txBox="1">
            <a:spLocks noGrp="1"/>
          </p:cNvSpPr>
          <p:nvPr>
            <p:ph type="body" idx="1"/>
          </p:nvPr>
        </p:nvSpPr>
        <p:spPr>
          <a:xfrm>
            <a:off x="0" y="1077000"/>
            <a:ext cx="4833900" cy="56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A highly integrated circuit that combines all essential components of a computing system (CPU, GPU, memory, I/O, etc.) on a single chip.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 b="1"/>
              <a:t>Components Integrated:</a:t>
            </a:r>
            <a:endParaRPr sz="1800" b="1"/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Sensors &amp; Actuators: </a:t>
            </a:r>
            <a:endParaRPr sz="1800"/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Digital Blocks: Contains CPU and RAM for processing tasks.</a:t>
            </a:r>
            <a:endParaRPr sz="1800"/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Analog and RF Blocks: Handles communication and signal conversion for wireless and analog communication.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 b="1"/>
              <a:t>Key Features:</a:t>
            </a:r>
            <a:endParaRPr sz="1800" b="1"/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Combines multiple functionalities (processing, communication, sensing) in one chip.</a:t>
            </a:r>
            <a:endParaRPr sz="1800"/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Power-efficient, compact, and cost-effective design for modern devices.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Widely used in smartphones, IoT devices, smart wearables, and embedded systems.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/>
          </a:p>
        </p:txBody>
      </p:sp>
      <p:pic>
        <p:nvPicPr>
          <p:cNvPr id="302" name="Google Shape;302;g2ff053b2d38_0_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33950" y="2171700"/>
            <a:ext cx="4310050" cy="344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ff053b2d38_0_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	System Softwares</a:t>
            </a:r>
            <a:endParaRPr/>
          </a:p>
        </p:txBody>
      </p:sp>
      <p:pic>
        <p:nvPicPr>
          <p:cNvPr id="309" name="Google Shape;309;g2ff053b2d38_0_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2788" y="1143000"/>
            <a:ext cx="7058424" cy="550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ff053b2d38_0_27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	System Softwares</a:t>
            </a:r>
            <a:endParaRPr/>
          </a:p>
        </p:txBody>
      </p:sp>
      <p:sp>
        <p:nvSpPr>
          <p:cNvPr id="316" name="Google Shape;316;g2ff053b2d38_0_27"/>
          <p:cNvSpPr txBox="1">
            <a:spLocks noGrp="1"/>
          </p:cNvSpPr>
          <p:nvPr>
            <p:ph type="body" idx="1"/>
          </p:nvPr>
        </p:nvSpPr>
        <p:spPr>
          <a:xfrm>
            <a:off x="0" y="1488775"/>
            <a:ext cx="9144000" cy="56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BIOS (Basic Input/Output System)</a:t>
            </a:r>
            <a:endParaRPr sz="2200" b="1"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Initializes and tests hardware during startup (POST).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Loads the bootloader/OS from disk.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Located on motherboard ROM/Flash memory.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Operating System (OS)</a:t>
            </a:r>
            <a:endParaRPr sz="2200" b="1"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Manages hardware resources and runs applications.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Provides an interface between users and hardware.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Examples: Windows, Linux, macOS.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3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ff053b2d38_0_36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	System Softwares</a:t>
            </a:r>
            <a:endParaRPr/>
          </a:p>
        </p:txBody>
      </p:sp>
      <p:sp>
        <p:nvSpPr>
          <p:cNvPr id="323" name="Google Shape;323;g2ff053b2d38_0_36"/>
          <p:cNvSpPr txBox="1">
            <a:spLocks noGrp="1"/>
          </p:cNvSpPr>
          <p:nvPr>
            <p:ph type="body" idx="1"/>
          </p:nvPr>
        </p:nvSpPr>
        <p:spPr>
          <a:xfrm>
            <a:off x="0" y="1452825"/>
            <a:ext cx="91440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Driver</a:t>
            </a:r>
            <a:endParaRPr sz="2200" b="1"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Software that helps the OS communicate with hardware.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Enables devices like printers, GPUs, and keyboards to function.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Examples: Graphics card, network adapter drivers.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Firmware</a:t>
            </a:r>
            <a:endParaRPr sz="2200" b="1"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Low-level software stored in hardware (ROM).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Controls device functions (e.g., hard drives, keyboards).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Semi-permanent, rarely updated compared to drivers.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2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sp>
        <p:nvSpPr>
          <p:cNvPr id="329" name="Google Shape;329;p22"/>
          <p:cNvSpPr txBox="1">
            <a:spLocks noGrp="1"/>
          </p:cNvSpPr>
          <p:nvPr>
            <p:ph type="body" idx="1"/>
          </p:nvPr>
        </p:nvSpPr>
        <p:spPr>
          <a:xfrm>
            <a:off x="0" y="1219200"/>
            <a:ext cx="91440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“Computer Systems Organization &amp; Architecture”, John D. Carpinelli, ISBN: 0-201-61253-4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“Operating Systems – A modern perspective”, Garry Nutt, ISBN 0-8053-1295-1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2518</Words>
  <Application>Microsoft Macintosh PowerPoint</Application>
  <PresentationFormat>On-screen Show (4:3)</PresentationFormat>
  <Paragraphs>318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Times New Roman</vt:lpstr>
      <vt:lpstr>Default Design</vt:lpstr>
      <vt:lpstr>Introduction to Computer Interfacing  </vt:lpstr>
      <vt:lpstr>Contents</vt:lpstr>
      <vt:lpstr>What is computer interfacing?</vt:lpstr>
      <vt:lpstr>Peripheral Devices &amp; Communication Links</vt:lpstr>
      <vt:lpstr>Types of Peripheral Devices</vt:lpstr>
      <vt:lpstr>How does a computer work?</vt:lpstr>
      <vt:lpstr>How does a computer work?  </vt:lpstr>
      <vt:lpstr>Software hierarchy of a computer system  </vt:lpstr>
      <vt:lpstr>Software hierarchy of a computer system</vt:lpstr>
      <vt:lpstr>BUS Architecture</vt:lpstr>
      <vt:lpstr>System Bus</vt:lpstr>
      <vt:lpstr>Address Bus</vt:lpstr>
      <vt:lpstr>Data Bus</vt:lpstr>
      <vt:lpstr>Control Bus</vt:lpstr>
      <vt:lpstr>Tri- state Logic</vt:lpstr>
      <vt:lpstr>How Tri-Stating works</vt:lpstr>
      <vt:lpstr>Advantages of Tri-State Bus</vt:lpstr>
      <vt:lpstr>Bus Interfacing</vt:lpstr>
      <vt:lpstr>Bus Errors and Conflicts</vt:lpstr>
      <vt:lpstr>Wait States &amp; Glitches</vt:lpstr>
      <vt:lpstr>Computer Ports</vt:lpstr>
      <vt:lpstr>Parallel Port</vt:lpstr>
      <vt:lpstr>Serial Port</vt:lpstr>
      <vt:lpstr>VGA and HDMI Ports</vt:lpstr>
      <vt:lpstr>VGA Port</vt:lpstr>
      <vt:lpstr>HDMI Port</vt:lpstr>
      <vt:lpstr>PowerPoint Presentation</vt:lpstr>
      <vt:lpstr>Microprocessor VS Microcontroller</vt:lpstr>
      <vt:lpstr>Embedded System</vt:lpstr>
      <vt:lpstr>Systems on a chip (SoC)</vt:lpstr>
      <vt:lpstr> System Softwares</vt:lpstr>
      <vt:lpstr> System Softwares</vt:lpstr>
      <vt:lpstr> System Softwares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 M Rauf</cp:lastModifiedBy>
  <cp:revision>1</cp:revision>
  <dcterms:created xsi:type="dcterms:W3CDTF">1601-01-01T00:00:00Z</dcterms:created>
  <dcterms:modified xsi:type="dcterms:W3CDTF">2026-03-31T12:19:14Z</dcterms:modified>
</cp:coreProperties>
</file>